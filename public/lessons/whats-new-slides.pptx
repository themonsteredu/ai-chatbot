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56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에스코어 드림 6 Bold"/>
                <a:ea typeface="에스코어 드림 6 Bold"/>
                <a:cs typeface="에스코어 드림 6 Bold"/>
              </a:rPr>
              <a:t>새 기능 · 15분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에스코어 드림 6 Bold"/>
                <a:ea typeface="에스코어 드림 6 Bold"/>
                <a:cs typeface="에스코어 드림 6 Bold"/>
              </a:rPr>
              <a:t>새로 생긴 기능</a:t>
            </a:r>
          </a:p>
          <a:p>
            <a:pPr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에스코어 드림 6 Bold"/>
                <a:ea typeface="에스코어 드림 6 Bold"/>
                <a:cs typeface="에스코어 드림 6 Bold"/>
              </a:rPr>
              <a:t>둘러보기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0">
                <a:solidFill>
                  <a:srgbClr val="E5E0FF"/>
                </a:solidFill>
                <a:latin typeface="에스코어 드림 4 Regular"/>
                <a:ea typeface="에스코어 드림 4 Regular"/>
                <a:cs typeface="에스코어 드림 4 Regular"/>
              </a:rPr>
              <a:t>지난 수업 뒤에 더해진 것들이에요.</a:t>
            </a:r>
          </a:p>
          <a:p>
            <a:pPr>
              <a:lnSpc>
                <a:spcPct val="110000"/>
              </a:lnSpc>
            </a:pPr>
            <a:r>
              <a:rPr sz="1900" b="0">
                <a:solidFill>
                  <a:srgbClr val="E5E0FF"/>
                </a:solidFill>
                <a:latin typeface="에스코어 드림 4 Regular"/>
                <a:ea typeface="에스코어 드림 4 Regular"/>
                <a:cs typeface="에스코어 드림 4 Regular"/>
              </a:rPr>
              <a:t>필요한 것만 골라 쓰셔도 됩니다.</a:t>
            </a:r>
          </a:p>
        </p:txBody>
      </p:sp>
      <p:pic>
        <p:nvPicPr>
          <p:cNvPr id="6" name="Picture 5" descr="colo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54452"/>
            <a:ext cx="1965960" cy="40117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무엇이 달라졌나요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크게 세 가지가 달라졌어요.</a:t>
            </a:r>
          </a:p>
        </p:txBody>
      </p:sp>
      <p:pic>
        <p:nvPicPr>
          <p:cNvPr id="4" name="Picture 3" descr="checklist-tomo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64882"/>
            <a:ext cx="1965960" cy="401383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600200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21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꾸민 대로 화면에 나와요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002536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색·글꼴·크기를 고르면 그대로 보여요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651760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21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부품을 옮기기 쉬워졌어요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054096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담기·옮기기 버튼과 화면 여러 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703320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21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블록이 많아졌어요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105655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소리·되풀이·아무 수·글자 다루기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고른 색과 글꼴이 그대로 보여요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부품을 누르고 왼쪽 ‘꾸미기’를 열면 있어요.</a:t>
            </a:r>
          </a:p>
        </p:txBody>
      </p:sp>
      <p:pic>
        <p:nvPicPr>
          <p:cNvPr id="6" name="Picture 5" descr="fon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667" y="1554480"/>
            <a:ext cx="3031625" cy="3154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글꼴 네 가지가 생겼어요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또렷한 고딕 · 차분한 명조 · 손글씨 · 타자기 중에서 골라요.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52044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전에는 고른 색이 화면에 나오지 않을 때가 있었는데, 이제 그대로 나옵니다.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부품 크기를 손잡이로 바꿔요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부품을 고르면 오른쪽 끝에 손잡이가 생겨요.</a:t>
            </a:r>
          </a:p>
        </p:txBody>
      </p:sp>
      <p:pic>
        <p:nvPicPr>
          <p:cNvPr id="6" name="Picture 5" descr="resiz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92" y="1554480"/>
            <a:ext cx="3690975" cy="3154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끌면 너비가 바뀌어요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꽉 채우기 → 3분의 2 → 절반 → 내용만큼 순서로 바뀝니다.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52044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손가락으로도 끌 수 있어요. 태블릿에서도 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멀리 있는 부품도 세로 배치에 담아요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‘내가 놓은 부품’에서 세로 배치를 고르면 나와요.</a:t>
            </a:r>
          </a:p>
        </p:txBody>
      </p:sp>
      <p:pic>
        <p:nvPicPr>
          <p:cNvPr id="6" name="Picture 5" descr="hold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12" y="1554480"/>
            <a:ext cx="3571335" cy="3154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‘여기에 부품 담기’를 눌러요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바로 옆에 없는 부품도 목록에서 골라 넣을 수 있어요.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52044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위로·아래로·안으로·밖으로 버튼으로도 자리를 옮깁니다.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화면을 여러 개 만들어요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부품 목록 위의 ‘+’를 누르면 화면이 늘어나요.</a:t>
            </a:r>
          </a:p>
        </p:txBody>
      </p:sp>
      <p:pic>
        <p:nvPicPr>
          <p:cNvPr id="6" name="Picture 5" descr="screens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07" y="1554480"/>
            <a:ext cx="3816145" cy="3154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문제 화면, 정답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화면마다 다른 부품을 놓을 수 있어요.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52044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블록의 ‘화면 넘기기’로 이 화면에서 저 화면으로 넘어갑니다.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블록으로 할 수 있는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‘언제’를 고르면 그 아래에 ‘무엇을 할지’를 붙여요.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886200" cy="283464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7" y="1810512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무엇을 할지 (동작)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31136"/>
            <a:ext cx="330098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부품 바꾸기 · 말풍선 보여 주기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소리 내기 (딩동·짝짝·삑·북)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목록에 더하기 · 목록 비우기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변수 정하기 · 화면 넘기기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만약 ~라면 · 반복하기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600200"/>
            <a:ext cx="3886200" cy="283464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01768" y="1810512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무엇을 넣을지 (값)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2231136"/>
            <a:ext cx="330098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글자 · 숫자 · 참·거짓 · 부품 값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아무 수 · 오늘·지금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계산 · 비교 · 그리고·또는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이어 붙이기 · 목록의 몇 번째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글자 수 · 오려 내기 · 다듬기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8046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‘더 보기 (변수·조건·반복)’를 켜면 어려운 블록까지 모두 나옵니다.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몇 초마다 되풀이하고, 소리를 내요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‘몇 초마다 되풀이’는 화면이 켜져 있는 동안 계속 돌아요.</a:t>
            </a:r>
          </a:p>
        </p:txBody>
      </p:sp>
      <p:pic>
        <p:nvPicPr>
          <p:cNvPr id="6" name="Picture 5" descr="blocks-ti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9770"/>
            <a:ext cx="8046720" cy="18210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703320"/>
            <a:ext cx="8046720" cy="96012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3858768"/>
            <a:ext cx="74615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타이머와 소리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24528"/>
            <a:ext cx="74615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초를 적고 그 아래에 할 일을 붙여요. 소리는 딩동·짝짝·삑·북 네 가지입니다.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화면을 벗어나면 저절로 멈춥니다.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아무 수를 뽑아요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1부터 6까지처럼 범위를 정하면 그 안에서 아무 수나 나와요.</a:t>
            </a:r>
          </a:p>
        </p:txBody>
      </p:sp>
      <p:pic>
        <p:nvPicPr>
          <p:cNvPr id="6" name="Picture 5" descr="blocks-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117" y="1554480"/>
            <a:ext cx="5857765" cy="2011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703320"/>
            <a:ext cx="8046720" cy="96012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3858768"/>
            <a:ext cx="74615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주사위·뽑기·랜덤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24528"/>
            <a:ext cx="74615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누를 때마다 다른 수가 나오니, 게임이나 오늘의 질문에 쓰기 좋아요.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‘오늘·지금’ 블록으로 날짜·요일·시각도 꺼내 쓸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글자를 다듬어 견주어요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‘글자 다듬기’로 빈칸을 떼거나 대·소문자를 맞춰요.</a:t>
            </a:r>
          </a:p>
        </p:txBody>
      </p:sp>
      <p:pic>
        <p:nvPicPr>
          <p:cNvPr id="6" name="Picture 5" descr="blocks-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15" y="1554480"/>
            <a:ext cx="7350369" cy="2011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703320"/>
            <a:ext cx="8046720" cy="96012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3858768"/>
            <a:ext cx="74615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정답 채점에 써요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24528"/>
            <a:ext cx="74615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‘사과 ’와 ‘사과’를 같게 볼 수 있어요. 포함·시작·끝으로도 견줍니다.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‘글자 오려 내기’와 ‘글자 수’도 함께 생겼습니다.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날마다 새로 시작하는 할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‘활동 체크’ 부품은 이제 날짜마다 따로 기억해요.</a:t>
            </a:r>
          </a:p>
        </p:txBody>
      </p:sp>
      <p:pic>
        <p:nvPicPr>
          <p:cNvPr id="6" name="Picture 5" descr="checklist-tomorrow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19" y="1554480"/>
            <a:ext cx="2300121" cy="3154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날짜를 넘겨요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오늘 것을 체크하고, 내일 할 일을 학생이 직접 적어요.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52044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미리 적어 배포한 항목은 날마다 그대로 다시 나옵니다.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선생님 화면에서 날짜별로 봐요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설정 → 교사용 설정 → 학생 제출 현황에서 볼 수 있어요.</a:t>
            </a:r>
          </a:p>
        </p:txBody>
      </p:sp>
      <p:pic>
        <p:nvPicPr>
          <p:cNvPr id="6" name="Picture 5" descr="class-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554480"/>
            <a:ext cx="6537960" cy="2011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703320"/>
            <a:ext cx="8046720" cy="96012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3858768"/>
            <a:ext cx="74615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누가 무엇을 했는지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24528"/>
            <a:ext cx="74615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날짜를 고르면 그날 반 아이들이 무엇을 했는지 한눈에 보입니다.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학생이 ‘선생님께 보내기’를 눌러야 모입니다.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친구들 작품을 함께 봐요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학생 화면의 ‘수업 도구 → 반에 제출’에 있어요.</a:t>
            </a:r>
          </a:p>
        </p:txBody>
      </p:sp>
      <p:pic>
        <p:nvPicPr>
          <p:cNvPr id="6" name="Picture 5" descr="class-fri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209" y="1554480"/>
            <a:ext cx="2028541" cy="31546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‘우리 반 작품 보기’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반 코드만 적으면 친구들 작품이 뜨고, 눌러서 열어 볼 수 있어요.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52044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선생님 화면에서 ‘우리 반 작품 갤러리 열기’를 켜야 보입니다. 이름과 만든 웹앱만 보이고, 체크·기록·사진은 보이지 않아요. 수업이 끝나면 다시 꺼 두세요.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72033"/>
                </a:solidFill>
                <a:latin typeface="에스코어 드림 6 Bold"/>
                <a:ea typeface="에스코어 드림 6 Bold"/>
                <a:cs typeface="에스코어 드림 6 Bold"/>
              </a:rPr>
              <a:t>설치가 막힐 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학교 태블릿이나 아이패드에서 설치창이 안 뜰 때가 있어요.</a:t>
            </a:r>
          </a:p>
        </p:txBody>
      </p:sp>
      <p:pic>
        <p:nvPicPr>
          <p:cNvPr id="6" name="Picture 5" descr="install-help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8082"/>
            <a:ext cx="4297680" cy="22874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18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1">
                <a:solidFill>
                  <a:srgbClr val="6956E8"/>
                </a:solidFill>
                <a:latin typeface="에스코어 드림 6 Bold"/>
                <a:ea typeface="에스코어 드림 6 Bold"/>
                <a:cs typeface="에스코어 드림 6 Bold"/>
              </a:rPr>
              <a:t>기기에 맞게 알려 줘요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172033"/>
                </a:solidFill>
                <a:latin typeface="에스코어 드림 4 Regular"/>
                <a:ea typeface="에스코어 드림 4 Regular"/>
                <a:cs typeface="에스코어 드림 4 Regular"/>
              </a:rPr>
              <a:t>삼성 인터넷·크롬·사파리·카카오톡 안까지, 쓰는 브라우저에 맞는 방법을 보여 줍니다.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52044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687086"/>
                </a:solidFill>
                <a:latin typeface="에스코어 드림 4 Regular"/>
                <a:ea typeface="에스코어 드림 4 Regular"/>
                <a:cs typeface="에스코어 드림 4 Regular"/>
              </a:rPr>
              <a:t>아이패드는 사파리 탭과 홈 화면 앱의 저장 자리가 달라, 담아 둔 것이 안 보일 수 있습니다.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56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에스코어 드림 6 Bold"/>
                <a:ea typeface="에스코어 드림 6 Bold"/>
                <a:cs typeface="에스코어 드림 6 Bold"/>
              </a:rPr>
              <a:t>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에스코어 드림 6 Bold"/>
                <a:ea typeface="에스코어 드림 6 Bold"/>
                <a:cs typeface="에스코어 드림 6 Bold"/>
              </a:rPr>
              <a:t>필요한 것부터</a:t>
            </a:r>
          </a:p>
          <a:p>
            <a:pPr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에스코어 드림 6 Bold"/>
                <a:ea typeface="에스코어 드림 6 Bold"/>
                <a:cs typeface="에스코어 드림 6 Bold"/>
              </a:rPr>
              <a:t>하나씩 써 보세요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900" b="0">
                <a:solidFill>
                  <a:srgbClr val="E5E0FF"/>
                </a:solidFill>
                <a:latin typeface="에스코어 드림 4 Regular"/>
                <a:ea typeface="에스코어 드림 4 Regular"/>
                <a:cs typeface="에스코어 드림 4 Regular"/>
              </a:rPr>
              <a:t>모두 쓰지 않아도 됩니다.</a:t>
            </a:r>
          </a:p>
          <a:p>
            <a:pPr>
              <a:lnSpc>
                <a:spcPct val="110000"/>
              </a:lnSpc>
            </a:pPr>
            <a:r>
              <a:rPr sz="1900" b="0">
                <a:solidFill>
                  <a:srgbClr val="E5E0FF"/>
                </a:solidFill>
                <a:latin typeface="에스코어 드림 4 Regular"/>
                <a:ea typeface="에스코어 드림 4 Regular"/>
                <a:cs typeface="에스코어 드림 4 Regular"/>
              </a:rPr>
              <a:t>수업에 맞는 것만 골라 주세요.</a:t>
            </a:r>
          </a:p>
        </p:txBody>
      </p:sp>
      <p:pic>
        <p:nvPicPr>
          <p:cNvPr id="6" name="Picture 5" descr="colo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54452"/>
            <a:ext cx="1965960" cy="40117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